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9" r:id="rId2"/>
    <p:sldId id="256" r:id="rId3"/>
    <p:sldId id="257" r:id="rId4"/>
    <p:sldId id="260" r:id="rId5"/>
    <p:sldId id="258" r:id="rId6"/>
    <p:sldId id="265" r:id="rId7"/>
    <p:sldId id="261" r:id="rId8"/>
    <p:sldId id="264" r:id="rId9"/>
    <p:sldId id="263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hông có Kiểu, Không có Lướ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15/06/2026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15/06/2026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15/06/2026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15/06/2026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15/06/2026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15/06/2026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15/06/2026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15/06/2026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15/06/2026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15/06/2026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845" y="2461846"/>
            <a:ext cx="8692309" cy="1934307"/>
          </a:xfrm>
        </p:spPr>
        <p:txBody>
          <a:bodyPr/>
          <a:lstStyle/>
          <a:p>
            <a:r>
              <a:rPr lang="en-US" dirty="0"/>
              <a:t>PROJECT REPORT OF </a:t>
            </a:r>
            <a:br>
              <a:rPr lang="en-US" dirty="0"/>
            </a:br>
            <a:r>
              <a:rPr lang="en-US" dirty="0"/>
              <a:t>Background Digital Communication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5" y="1801662"/>
            <a:ext cx="1133531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600" dirty="0"/>
              <a:t>Topic 04: Performance Evaluation of 2x2 MIMO - OFDM System with </a:t>
            </a:r>
            <a:r>
              <a:rPr lang="en-US" sz="3600" dirty="0" err="1"/>
              <a:t>Alamouti</a:t>
            </a:r>
            <a:r>
              <a:rPr lang="en-US" sz="3600" dirty="0"/>
              <a:t> STBC and 16 - QAM over Rayleigh Fading Channels </a:t>
            </a:r>
            <a:endParaRPr lang="en-US" sz="3600" b="0" dirty="0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429000"/>
            <a:ext cx="979295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Bảng 4">
            <a:extLst>
              <a:ext uri="{FF2B5EF4-FFF2-40B4-BE49-F238E27FC236}">
                <a16:creationId xmlns:a16="http://schemas.microsoft.com/office/drawing/2014/main" id="{F4C95616-0E96-3C54-78D7-E3A77CE70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338467"/>
              </p:ext>
            </p:extLst>
          </p:nvPr>
        </p:nvGraphicFramePr>
        <p:xfrm>
          <a:off x="386634" y="3620950"/>
          <a:ext cx="5143834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917">
                  <a:extLst>
                    <a:ext uri="{9D8B030D-6E8A-4147-A177-3AD203B41FA5}">
                      <a16:colId xmlns:a16="http://schemas.microsoft.com/office/drawing/2014/main" val="1472741548"/>
                    </a:ext>
                  </a:extLst>
                </a:gridCol>
                <a:gridCol w="2571917">
                  <a:extLst>
                    <a:ext uri="{9D8B030D-6E8A-4147-A177-3AD203B41FA5}">
                      <a16:colId xmlns:a16="http://schemas.microsoft.com/office/drawing/2014/main" val="92321108"/>
                    </a:ext>
                  </a:extLst>
                </a:gridCol>
              </a:tblGrid>
              <a:tr h="279913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Group 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b="1" kern="1200" dirty="0">
                        <a:solidFill>
                          <a:srgbClr val="C00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596323"/>
                  </a:ext>
                </a:extLst>
              </a:tr>
              <a:tr h="1297776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Name</a:t>
                      </a:r>
                    </a:p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Phạm Việt Anh</a:t>
                      </a:r>
                    </a:p>
                    <a:p>
                      <a:pPr algn="ctr"/>
                      <a:r>
                        <a:rPr lang="en-US" sz="1600" b="1" kern="1200" dirty="0" err="1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Lã</a:t>
                      </a:r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Quý Anh</a:t>
                      </a:r>
                    </a:p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Phạm Xuân </a:t>
                      </a:r>
                      <a:r>
                        <a:rPr lang="en-US" sz="1600" b="1" kern="1200" dirty="0" err="1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Hưng</a:t>
                      </a:r>
                      <a:endParaRPr lang="en-US" sz="1600" b="1" kern="1200" dirty="0">
                        <a:solidFill>
                          <a:srgbClr val="C00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Vũ Việt Trung</a:t>
                      </a:r>
                    </a:p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Vũ Nguyên </a:t>
                      </a:r>
                      <a:r>
                        <a:rPr lang="en-US" sz="1600" b="1" kern="1200" dirty="0" err="1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Hiệp</a:t>
                      </a:r>
                      <a:endParaRPr lang="en-US" sz="1600" b="1" kern="1200" dirty="0">
                        <a:solidFill>
                          <a:srgbClr val="C00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Student code</a:t>
                      </a:r>
                    </a:p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20238743</a:t>
                      </a:r>
                    </a:p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20238739</a:t>
                      </a:r>
                    </a:p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20227815</a:t>
                      </a:r>
                    </a:p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20238816</a:t>
                      </a:r>
                    </a:p>
                    <a:p>
                      <a:pPr algn="ctr"/>
                      <a:r>
                        <a:rPr lang="en-US" sz="1600" b="1" kern="1200" dirty="0">
                          <a:solidFill>
                            <a:srgbClr val="C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20238870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3.2. Quadrature Amplitude Modulation (16-QAM)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4F949A12-B83A-1229-419E-660DA6EE810E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 bwMode="auto">
              <a:xfrm>
                <a:off x="0" y="978642"/>
                <a:ext cx="12192000" cy="5069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/>
                  <a:t>16-QAM (Quadrature Amplitude Modulation) modulates information using both the </a:t>
                </a:r>
                <a:r>
                  <a:rPr lang="en-US" sz="2400" b="1" dirty="0"/>
                  <a:t>amplitude</a:t>
                </a:r>
                <a:r>
                  <a:rPr lang="en-US" sz="2400" dirty="0"/>
                  <a:t> and </a:t>
                </a:r>
                <a:r>
                  <a:rPr lang="en-US" sz="2400" b="1" dirty="0"/>
                  <a:t>phase</a:t>
                </a:r>
                <a:r>
                  <a:rPr lang="en-US" sz="2400" dirty="0"/>
                  <a:t> of the carrier signal.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/>
                  <a:t>Each symbol carries </a:t>
                </a:r>
                <a:r>
                  <a:rPr lang="en-US" sz="2400" b="1" dirty="0"/>
                  <a:t>4 bits of information</a:t>
                </a:r>
                <a:r>
                  <a:rPr lang="en-US" sz="2400" dirty="0"/>
                  <a:t>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/>
                  <a:t>The constellation consists of </a:t>
                </a:r>
                <a:r>
                  <a:rPr lang="en-US" sz="2400" b="1" dirty="0"/>
                  <a:t>16 symbol points</a:t>
                </a:r>
                <a:r>
                  <a:rPr lang="en-US" sz="2400" dirty="0"/>
                  <a:t> arranged on the I-Q plane.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I, Q </a:t>
                </a:r>
                <a:r>
                  <a:rPr lang="en-US" sz="2400" dirty="0"/>
                  <a:t>∈ 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{−3,−1,+1,+3}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/>
                  <a:t>Average symbol energy is normalized to: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Es=1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sz="2400" dirty="0"/>
                  <a:t>using the scaling factor: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0" lang="en-US" alt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altLang="en-US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endParaRPr lang="en-US" altLang="en-US" sz="2400" dirty="0">
                  <a:latin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/>
                  <a:t>Uses Gray Coding to reduce bit errors.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/>
                  <a:t>Demodulation is performed using Maximum Likelihood (ML) based on the minimum Euclidean distance.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/>
                  <a:t>Advantages: High spectral efficiency, suitable for high-speed MIMO-OFDM systems.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4F949A12-B83A-1229-419E-660DA6EE81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 bwMode="auto">
              <a:xfrm>
                <a:off x="0" y="978642"/>
                <a:ext cx="12192000" cy="5069529"/>
              </a:xfrm>
              <a:prstGeom prst="rect">
                <a:avLst/>
              </a:prstGeom>
              <a:blipFill>
                <a:blip r:embed="rId2"/>
                <a:stretch>
                  <a:fillRect l="-650" b="-2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System Block Diagram and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H="1">
            <a:off x="0" y="4423719"/>
            <a:ext cx="12192000" cy="154750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3B0C388F-95A6-B543-D8B9-062019698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852" y="1100126"/>
            <a:ext cx="5450296" cy="2230375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2D7B6FE4-B1EC-080B-67D0-732F616A5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9" y="886776"/>
            <a:ext cx="12192599" cy="508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AD8A-1EA9-C7CE-D797-0A3D974F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System Block Diagram and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CFAC5-863F-C743-EE8D-B9564CC43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1CE8-660D-F65D-7BA2-062181F1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1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FE0E-299A-46D8-9DF7-2C84CBBC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2B1B2EF-F9E2-4625-AD70-EE979A3EA52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B7570B9-F44D-4F61-BF1F-C3F752BCAAB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4E653-E636-4EED-9A37-BC263FE8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00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8E1B1-D9CD-415A-BCE5-B57F39B2F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41D0-D074-43AE-8875-C4BDC9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1CA00-8B5A-4B5F-AE21-CF0691D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787B8F-671E-899B-3B95-4CCE696D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A6010-86B5-CA9E-6538-49958090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8E2D656-4DFD-D837-76D3-A143B0106EB5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CBAF409-B126-D20D-BE76-1D4AFBEB4A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CDCA-26D1-DE31-7955-F13FF981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44802-0381-50A3-7C85-B7B6ED4EFE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0FB4F-C0E4-5A49-AA97-BCAA527E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6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248DCA-B91F-BC5A-64CE-246CF358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308EB-C22C-0699-31DF-5588F4DD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99678272-23D5-2910-516A-D7EDB6A7FE5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00C4E-0536-65FC-3882-BD908064E9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9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198</Words>
  <Application>Microsoft Office PowerPoint</Application>
  <PresentationFormat>Màn hình rộng</PresentationFormat>
  <Paragraphs>41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Lato</vt:lpstr>
      <vt:lpstr>Office Theme</vt:lpstr>
      <vt:lpstr>Bản trình bày PowerPoint</vt:lpstr>
      <vt:lpstr>PROJECT REPORT OF  Background Digital Communication  </vt:lpstr>
      <vt:lpstr>Bản trình bày PowerPoint</vt:lpstr>
      <vt:lpstr>3.2. Quadrature Amplitude Modulation (16-QAM)</vt:lpstr>
      <vt:lpstr>4. System Block Diagram and Operation</vt:lpstr>
      <vt:lpstr>4. System Block Diagram and Operation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Vu Nguyen Hiep 20238770</cp:lastModifiedBy>
  <cp:revision>11</cp:revision>
  <dcterms:created xsi:type="dcterms:W3CDTF">2021-05-28T04:32:29Z</dcterms:created>
  <dcterms:modified xsi:type="dcterms:W3CDTF">2026-06-15T10:25:42Z</dcterms:modified>
</cp:coreProperties>
</file>