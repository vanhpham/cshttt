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2" r:id="rId2"/>
  </p:sldMasterIdLst>
  <p:notesMasterIdLst>
    <p:notesMasterId r:id="rId17"/>
  </p:notesMasterIdLst>
  <p:handoutMasterIdLst>
    <p:handoutMasterId r:id="rId18"/>
  </p:handoutMasterIdLst>
  <p:sldIdLst>
    <p:sldId id="260" r:id="rId3"/>
    <p:sldId id="270" r:id="rId4"/>
    <p:sldId id="276" r:id="rId5"/>
    <p:sldId id="272" r:id="rId6"/>
    <p:sldId id="275" r:id="rId7"/>
    <p:sldId id="277" r:id="rId8"/>
    <p:sldId id="279" r:id="rId9"/>
    <p:sldId id="274" r:id="rId10"/>
    <p:sldId id="280" r:id="rId11"/>
    <p:sldId id="282" r:id="rId12"/>
    <p:sldId id="281" r:id="rId13"/>
    <p:sldId id="283" r:id="rId14"/>
    <p:sldId id="284" r:id="rId15"/>
    <p:sldId id="285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4660"/>
  </p:normalViewPr>
  <p:slideViewPr>
    <p:cSldViewPr snapToGrid="0">
      <p:cViewPr varScale="1">
        <p:scale>
          <a:sx n="95" d="100"/>
          <a:sy n="95" d="100"/>
        </p:scale>
        <p:origin x="1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B45424-6BAC-416C-8F6C-5F9DE854A36B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4D737-83BD-4FDE-8CF3-8BC01E7FC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733702-C25A-40B9-9167-54BAA79B29B0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2FC7A4-3D1B-482D-8C9D-7642A2CE3076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58E92B09-5AF4-4E86-A8BE-E866F0E2C017}" type="datetime1">
              <a:rPr lang="en-US" smtClean="0"/>
              <a:t>6/15/2026</a:t>
            </a:fld>
            <a:endParaRPr lang="en-US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Title 8"/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1:……………………………………..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338736" y="1058844"/>
            <a:ext cx="11514528" cy="490912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3ACFEBC-8634-4116-B617-2BE5C2034C2C}" type="datetime1">
              <a:rPr lang="en-US" smtClean="0"/>
              <a:t>6/15/2026</a:t>
            </a:fld>
            <a:endParaRPr lang="en-US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itle 8"/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2:……………………………………..</a:t>
            </a:r>
          </a:p>
        </p:txBody>
      </p:sp>
      <p:sp>
        <p:nvSpPr>
          <p:cNvPr id="12" name="Chart Placeholder 9"/>
          <p:cNvSpPr>
            <a:spLocks noGrp="1"/>
          </p:cNvSpPr>
          <p:nvPr>
            <p:ph type="chart" sz="quarter" idx="13" hasCustomPrompt="1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3" name="Picture Placeholder 11"/>
          <p:cNvSpPr>
            <a:spLocks noGrp="1"/>
          </p:cNvSpPr>
          <p:nvPr>
            <p:ph type="pic" sz="quarter" idx="14" hasCustomPrompt="1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Picture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8"/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3:……………………………………..</a:t>
            </a:r>
          </a:p>
        </p:txBody>
      </p:sp>
      <p:sp>
        <p:nvSpPr>
          <p:cNvPr id="12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CDB0C24-DFE0-41C5-B02D-FC32F5C22F7C}" type="datetime1">
              <a:rPr lang="en-US" smtClean="0"/>
              <a:t>6/15/2026</a:t>
            </a:fld>
            <a:endParaRPr lang="en-US"/>
          </a:p>
        </p:txBody>
      </p:sp>
      <p:sp>
        <p:nvSpPr>
          <p:cNvPr id="1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19A9EFEF-A194-4819-82D7-1112425D0E86}" type="datetime1">
              <a:rPr lang="en-US" smtClean="0"/>
              <a:t>6/15/2026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8"/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4:……………………………………..</a:t>
            </a:r>
          </a:p>
        </p:txBody>
      </p:sp>
      <p:sp>
        <p:nvSpPr>
          <p:cNvPr id="11" name="Chart Placeholder 14"/>
          <p:cNvSpPr>
            <a:spLocks noGrp="1"/>
          </p:cNvSpPr>
          <p:nvPr>
            <p:ph type="chart" sz="quarter" idx="13" hasCustomPrompt="1"/>
          </p:nvPr>
        </p:nvSpPr>
        <p:spPr>
          <a:xfrm>
            <a:off x="338736" y="1406525"/>
            <a:ext cx="5757264" cy="4670425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2" name="Table Placeholder 16"/>
          <p:cNvSpPr>
            <a:spLocks noGrp="1"/>
          </p:cNvSpPr>
          <p:nvPr>
            <p:ph type="tbl" sz="quarter" idx="14" hasCustomPrompt="1"/>
          </p:nvPr>
        </p:nvSpPr>
        <p:spPr>
          <a:xfrm>
            <a:off x="6210300" y="1392239"/>
            <a:ext cx="5592763" cy="468471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Table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EEBFCEF3-2DDE-476B-8A96-303EC557333C}" type="datetime1">
              <a:rPr lang="en-US" smtClean="0"/>
              <a:t>6/15/2026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4"/>
          <p:cNvSpPr>
            <a:spLocks noGrp="1"/>
          </p:cNvSpPr>
          <p:nvPr>
            <p:ph sz="quarter" idx="13"/>
          </p:nvPr>
        </p:nvSpPr>
        <p:spPr>
          <a:xfrm>
            <a:off x="4558372" y="1248325"/>
            <a:ext cx="7391400" cy="520541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8"/>
          <p:cNvSpPr>
            <a:spLocks noGrp="1"/>
          </p:cNvSpPr>
          <p:nvPr>
            <p:ph type="title" hasCustomPrompt="1"/>
          </p:nvPr>
        </p:nvSpPr>
        <p:spPr>
          <a:xfrm>
            <a:off x="4558372" y="404265"/>
            <a:ext cx="7391400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5:……………………………………..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8"/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6:……………………………………..</a:t>
            </a:r>
          </a:p>
        </p:txBody>
      </p:sp>
      <p:sp>
        <p:nvSpPr>
          <p:cNvPr id="12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CDB0C24-DFE0-41C5-B02D-FC32F5C22F7C}" type="datetime1">
              <a:rPr lang="en-US" smtClean="0"/>
              <a:t>6/15/2026</a:t>
            </a:fld>
            <a:endParaRPr lang="en-US"/>
          </a:p>
        </p:txBody>
      </p:sp>
      <p:sp>
        <p:nvSpPr>
          <p:cNvPr id="1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3ACFEBC-8634-4116-B617-2BE5C2034C2C}" type="datetime1">
              <a:rPr lang="en-US" smtClean="0"/>
              <a:t>6/15/2026</a:t>
            </a:fld>
            <a:endParaRPr lang="en-US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itle 8"/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7:……………………………………..</a:t>
            </a:r>
          </a:p>
        </p:txBody>
      </p:sp>
      <p:sp>
        <p:nvSpPr>
          <p:cNvPr id="12" name="Chart Placeholder 9"/>
          <p:cNvSpPr>
            <a:spLocks noGrp="1"/>
          </p:cNvSpPr>
          <p:nvPr>
            <p:ph type="chart" sz="quarter" idx="13" hasCustomPrompt="1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3" name="Picture Placeholder 11"/>
          <p:cNvSpPr>
            <a:spLocks noGrp="1"/>
          </p:cNvSpPr>
          <p:nvPr>
            <p:ph type="pic" sz="quarter" idx="14" hasCustomPrompt="1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Picture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8"/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8:……………………………………..</a:t>
            </a:r>
          </a:p>
        </p:txBody>
      </p:sp>
      <p:sp>
        <p:nvSpPr>
          <p:cNvPr id="12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CDB0C24-DFE0-41C5-B02D-FC32F5C22F7C}" type="datetime1">
              <a:rPr lang="en-US" smtClean="0"/>
              <a:t>6/15/2026</a:t>
            </a:fld>
            <a:endParaRPr lang="en-US"/>
          </a:p>
        </p:txBody>
      </p:sp>
      <p:sp>
        <p:nvSpPr>
          <p:cNvPr id="1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3ACFEBC-8634-4116-B617-2BE5C2034C2C}" type="datetime1">
              <a:rPr lang="en-US" smtClean="0"/>
              <a:t>6/15/2026</a:t>
            </a:fld>
            <a:endParaRPr lang="en-US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itle 8"/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9:……………………………………..</a:t>
            </a:r>
          </a:p>
        </p:txBody>
      </p:sp>
      <p:sp>
        <p:nvSpPr>
          <p:cNvPr id="12" name="Chart Placeholder 9"/>
          <p:cNvSpPr>
            <a:spLocks noGrp="1"/>
          </p:cNvSpPr>
          <p:nvPr>
            <p:ph type="chart" sz="quarter" idx="13" hasCustomPrompt="1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3" name="Picture Placeholder 11"/>
          <p:cNvSpPr>
            <a:spLocks noGrp="1"/>
          </p:cNvSpPr>
          <p:nvPr>
            <p:ph type="pic" sz="quarter" idx="14" hasCustomPrompt="1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Picture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2F65D4C-DEE4-4C7B-91C4-D6D57A523E98}" type="datetime1">
              <a:rPr lang="en-US" smtClean="0"/>
              <a:t>6/15/2026</a:t>
            </a:fld>
            <a:endParaRPr lang="en-US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4"/>
          <p:cNvSpPr>
            <a:spLocks noGrp="1"/>
          </p:cNvSpPr>
          <p:nvPr>
            <p:ph type="title" hasCustomPrompt="1"/>
          </p:nvPr>
        </p:nvSpPr>
        <p:spPr>
          <a:xfrm>
            <a:off x="3788898" y="2461846"/>
            <a:ext cx="4614203" cy="1934307"/>
          </a:xfrm>
          <a:prstGeom prst="rect">
            <a:avLst/>
          </a:prstGeom>
        </p:spPr>
        <p:txBody>
          <a:bodyPr/>
          <a:lstStyle>
            <a:lvl1pPr algn="ctr">
              <a:defRPr sz="4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58E92B09-5AF4-4E86-A8BE-E866F0E2C017}" type="datetime1">
              <a:rPr lang="en-US" smtClean="0"/>
              <a:t>6/15/2026</a:t>
            </a:fld>
            <a:endParaRPr lang="en-US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Title 8"/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1:……………………………………..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338736" y="1058844"/>
            <a:ext cx="11514528" cy="490912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3ACFEBC-8634-4116-B617-2BE5C2034C2C}" type="datetime1">
              <a:rPr lang="en-US" smtClean="0"/>
              <a:t>6/15/2026</a:t>
            </a:fld>
            <a:endParaRPr lang="en-US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itle 8"/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2:……………………………………..</a:t>
            </a:r>
          </a:p>
        </p:txBody>
      </p:sp>
      <p:sp>
        <p:nvSpPr>
          <p:cNvPr id="12" name="Chart Placeholder 9"/>
          <p:cNvSpPr>
            <a:spLocks noGrp="1"/>
          </p:cNvSpPr>
          <p:nvPr>
            <p:ph type="chart" sz="quarter" idx="13" hasCustomPrompt="1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3" name="Picture Placeholder 11"/>
          <p:cNvSpPr>
            <a:spLocks noGrp="1"/>
          </p:cNvSpPr>
          <p:nvPr>
            <p:ph type="pic" sz="quarter" idx="14" hasCustomPrompt="1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Picture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8"/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3:……………………………………..</a:t>
            </a:r>
          </a:p>
        </p:txBody>
      </p:sp>
      <p:sp>
        <p:nvSpPr>
          <p:cNvPr id="12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CDB0C24-DFE0-41C5-B02D-FC32F5C22F7C}" type="datetime1">
              <a:rPr lang="en-US" smtClean="0"/>
              <a:t>6/15/2026</a:t>
            </a:fld>
            <a:endParaRPr lang="en-US"/>
          </a:p>
        </p:txBody>
      </p:sp>
      <p:sp>
        <p:nvSpPr>
          <p:cNvPr id="1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19A9EFEF-A194-4819-82D7-1112425D0E86}" type="datetime1">
              <a:rPr lang="en-US" smtClean="0"/>
              <a:t>6/15/2026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8"/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4:……………………………………..</a:t>
            </a:r>
          </a:p>
        </p:txBody>
      </p:sp>
      <p:sp>
        <p:nvSpPr>
          <p:cNvPr id="11" name="Chart Placeholder 14"/>
          <p:cNvSpPr>
            <a:spLocks noGrp="1"/>
          </p:cNvSpPr>
          <p:nvPr>
            <p:ph type="chart" sz="quarter" idx="13" hasCustomPrompt="1"/>
          </p:nvPr>
        </p:nvSpPr>
        <p:spPr>
          <a:xfrm>
            <a:off x="338736" y="1406525"/>
            <a:ext cx="5757264" cy="4670425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2" name="Table Placeholder 16"/>
          <p:cNvSpPr>
            <a:spLocks noGrp="1"/>
          </p:cNvSpPr>
          <p:nvPr>
            <p:ph type="tbl" sz="quarter" idx="14" hasCustomPrompt="1"/>
          </p:nvPr>
        </p:nvSpPr>
        <p:spPr>
          <a:xfrm>
            <a:off x="6210300" y="1392239"/>
            <a:ext cx="5592763" cy="468471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Table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EEBFCEF3-2DDE-476B-8A96-303EC557333C}" type="datetime1">
              <a:rPr lang="en-US" smtClean="0"/>
              <a:t>6/15/2026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4"/>
          <p:cNvSpPr>
            <a:spLocks noGrp="1"/>
          </p:cNvSpPr>
          <p:nvPr>
            <p:ph sz="quarter" idx="13"/>
          </p:nvPr>
        </p:nvSpPr>
        <p:spPr>
          <a:xfrm>
            <a:off x="4558372" y="1248325"/>
            <a:ext cx="7391400" cy="520541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8"/>
          <p:cNvSpPr>
            <a:spLocks noGrp="1"/>
          </p:cNvSpPr>
          <p:nvPr>
            <p:ph type="title" hasCustomPrompt="1"/>
          </p:nvPr>
        </p:nvSpPr>
        <p:spPr>
          <a:xfrm>
            <a:off x="4558372" y="404265"/>
            <a:ext cx="7391400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5:……………………………………..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8"/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6:……………………………………..</a:t>
            </a:r>
          </a:p>
        </p:txBody>
      </p:sp>
      <p:sp>
        <p:nvSpPr>
          <p:cNvPr id="12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CDB0C24-DFE0-41C5-B02D-FC32F5C22F7C}" type="datetime1">
              <a:rPr lang="en-US" smtClean="0"/>
              <a:t>6/15/2026</a:t>
            </a:fld>
            <a:endParaRPr lang="en-US"/>
          </a:p>
        </p:txBody>
      </p:sp>
      <p:sp>
        <p:nvSpPr>
          <p:cNvPr id="1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3ACFEBC-8634-4116-B617-2BE5C2034C2C}" type="datetime1">
              <a:rPr lang="en-US" smtClean="0"/>
              <a:t>6/15/2026</a:t>
            </a:fld>
            <a:endParaRPr lang="en-US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itle 8"/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7:……………………………………..</a:t>
            </a:r>
          </a:p>
        </p:txBody>
      </p:sp>
      <p:sp>
        <p:nvSpPr>
          <p:cNvPr id="12" name="Chart Placeholder 9"/>
          <p:cNvSpPr>
            <a:spLocks noGrp="1"/>
          </p:cNvSpPr>
          <p:nvPr>
            <p:ph type="chart" sz="quarter" idx="13" hasCustomPrompt="1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3" name="Picture Placeholder 11"/>
          <p:cNvSpPr>
            <a:spLocks noGrp="1"/>
          </p:cNvSpPr>
          <p:nvPr>
            <p:ph type="pic" sz="quarter" idx="14" hasCustomPrompt="1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Picture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8"/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8:……………………………………..</a:t>
            </a:r>
          </a:p>
        </p:txBody>
      </p:sp>
      <p:sp>
        <p:nvSpPr>
          <p:cNvPr id="12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CDB0C24-DFE0-41C5-B02D-FC32F5C22F7C}" type="datetime1">
              <a:rPr lang="en-US" smtClean="0"/>
              <a:t>6/15/2026</a:t>
            </a:fld>
            <a:endParaRPr lang="en-US"/>
          </a:p>
        </p:txBody>
      </p:sp>
      <p:sp>
        <p:nvSpPr>
          <p:cNvPr id="1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3ACFEBC-8634-4116-B617-2BE5C2034C2C}" type="datetime1">
              <a:rPr lang="en-US" smtClean="0"/>
              <a:t>6/15/2026</a:t>
            </a:fld>
            <a:endParaRPr lang="en-US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itle 8"/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9:……………………………………..</a:t>
            </a:r>
          </a:p>
        </p:txBody>
      </p:sp>
      <p:sp>
        <p:nvSpPr>
          <p:cNvPr id="12" name="Chart Placeholder 9"/>
          <p:cNvSpPr>
            <a:spLocks noGrp="1"/>
          </p:cNvSpPr>
          <p:nvPr>
            <p:ph type="chart" sz="quarter" idx="13" hasCustomPrompt="1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3" name="Picture Placeholder 11"/>
          <p:cNvSpPr>
            <a:spLocks noGrp="1"/>
          </p:cNvSpPr>
          <p:nvPr>
            <p:ph type="pic" sz="quarter" idx="14" hasCustomPrompt="1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Picture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2F65D4C-DEE4-4C7B-91C4-D6D57A523E98}" type="datetime1">
              <a:rPr lang="en-US" smtClean="0"/>
              <a:t>6/15/2026</a:t>
            </a:fld>
            <a:endParaRPr lang="en-US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4"/>
          <p:cNvSpPr>
            <a:spLocks noGrp="1"/>
          </p:cNvSpPr>
          <p:nvPr>
            <p:ph type="title" hasCustomPrompt="1"/>
          </p:nvPr>
        </p:nvSpPr>
        <p:spPr>
          <a:xfrm>
            <a:off x="3788898" y="2461846"/>
            <a:ext cx="4614203" cy="1934307"/>
          </a:xfrm>
          <a:prstGeom prst="rect">
            <a:avLst/>
          </a:prstGeom>
        </p:spPr>
        <p:txBody>
          <a:bodyPr/>
          <a:lstStyle>
            <a:lvl1pPr algn="ctr">
              <a:defRPr sz="4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V. EXPERIMENTAL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338455" y="1143000"/>
            <a:ext cx="6238808" cy="4078705"/>
          </a:xfrm>
        </p:spPr>
        <p:txBody>
          <a:bodyPr/>
          <a:lstStyle/>
          <a:p>
            <a:pPr marL="0" indent="0">
              <a:buNone/>
            </a:pPr>
            <a:r>
              <a:rPr lang="en-US" altLang="en-US" dirty="0"/>
              <a:t>2x2 MIMO-OFDM System Simulation</a:t>
            </a:r>
          </a:p>
          <a:p>
            <a:r>
              <a:rPr lang="en-US" sz="2000" dirty="0"/>
              <a:t>Objective: Evaluate system performance using a MATLAB-based framework.</a:t>
            </a:r>
          </a:p>
          <a:p>
            <a:r>
              <a:rPr lang="en-US" sz="2000" dirty="0"/>
              <a:t>Channel: Modeled with multipath Rayleigh fading and AWGN.</a:t>
            </a:r>
          </a:p>
          <a:p>
            <a:r>
              <a:rPr lang="en-US" sz="2000" dirty="0"/>
              <a:t>Tx/Rx Architecture: Integrates 16-QAM, </a:t>
            </a:r>
            <a:r>
              <a:rPr lang="en-US" sz="2000" dirty="0" err="1"/>
              <a:t>Alamouti</a:t>
            </a:r>
            <a:r>
              <a:rPr lang="en-US" sz="2000" dirty="0"/>
              <a:t> STBC, and OFDM modulation/demodulation.</a:t>
            </a:r>
          </a:p>
          <a:p>
            <a:r>
              <a:rPr lang="en-US" sz="2000" dirty="0"/>
              <a:t>Evaluation: Analyzes Bit Error Rate (BER) and Symbol Error Rate (SER) across various SNR values.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t>1</a:t>
            </a:fld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V. EXPERIMENTAL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248285" y="619125"/>
            <a:ext cx="6864985" cy="4909185"/>
          </a:xfrm>
        </p:spPr>
        <p:txBody>
          <a:bodyPr/>
          <a:lstStyle/>
          <a:p>
            <a:pPr marL="0" indent="0">
              <a:buNone/>
            </a:pPr>
            <a:endParaRPr lang="en-US" altLang="en-US" b="1" dirty="0"/>
          </a:p>
          <a:p>
            <a:pPr marL="0" indent="0">
              <a:buNone/>
            </a:pPr>
            <a:r>
              <a:rPr lang="en-US" altLang="en-US" b="1" dirty="0"/>
              <a:t>5.1 Simulation Parameters</a:t>
            </a: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t>2</a:t>
            </a:fld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08D14C0-2C36-9331-FC30-4DF8B1442C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4001" y="1599059"/>
            <a:ext cx="5761219" cy="41090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BCF6A2-31F3-3573-2E84-58C1DED19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8E80F-6163-A9E5-DCB7-2D07909B5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V. EXPERIMENTAL SETUP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0195824-E108-8EB3-958B-1D9AF10715F9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248285" y="619125"/>
                <a:ext cx="12015904" cy="4909185"/>
              </a:xfrm>
            </p:spPr>
            <p:txBody>
              <a:bodyPr/>
              <a:lstStyle/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b="1" dirty="0"/>
                  <a:t>5.2 Processing Methodology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Transmitter Operations:</a:t>
                </a:r>
              </a:p>
              <a:p>
                <a:r>
                  <a:rPr lang="en-US" sz="2000" b="1" dirty="0"/>
                  <a:t>Modulation:</a:t>
                </a:r>
                <a:r>
                  <a:rPr lang="en-US" sz="2000" dirty="0"/>
                  <a:t> Input bit stream is mapped using </a:t>
                </a:r>
                <a:r>
                  <a:rPr lang="en-US" sz="2000" b="1" dirty="0"/>
                  <a:t>16-QAM.</a:t>
                </a:r>
              </a:p>
              <a:p>
                <a:r>
                  <a:rPr lang="en-US" sz="2000" b="1" dirty="0"/>
                  <a:t>STBC Encoding:</a:t>
                </a:r>
                <a:r>
                  <a:rPr lang="en-US" sz="2000" dirty="0"/>
                  <a:t> Symbols are encoded using </a:t>
                </a:r>
                <a:r>
                  <a:rPr lang="en-US" sz="2000" b="1" dirty="0" err="1"/>
                  <a:t>Alamouti</a:t>
                </a:r>
                <a:r>
                  <a:rPr lang="en-US" sz="2000" b="1" dirty="0"/>
                  <a:t> STBC</a:t>
                </a:r>
                <a:r>
                  <a:rPr lang="en-US" sz="2000" dirty="0"/>
                  <a:t> to achieve spatial diversity across 2 transmit antennas.</a:t>
                </a:r>
              </a:p>
              <a:p>
                <a:r>
                  <a:rPr lang="en-US" sz="2000" b="1" dirty="0"/>
                  <a:t>OFDM Modulation:</a:t>
                </a:r>
                <a:r>
                  <a:rPr lang="en-US" sz="2000" dirty="0"/>
                  <a:t> IFFT is applied to convert signals to the time domain, and a </a:t>
                </a:r>
                <a:r>
                  <a:rPr lang="en-US" sz="2000" b="1" dirty="0"/>
                  <a:t>Cyclic Prefix (CP)</a:t>
                </a:r>
                <a:r>
                  <a:rPr lang="en-US" sz="2000" dirty="0"/>
                  <a:t> is added to prevent Inter-Symbol Interference (ISI).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Channel Model:</a:t>
                </a:r>
                <a:endParaRPr lang="en-US" sz="2000" dirty="0"/>
              </a:p>
              <a:p>
                <a:r>
                  <a:rPr lang="en-US" sz="2000" dirty="0"/>
                  <a:t>Signals pass through a </a:t>
                </a:r>
                <a:r>
                  <a:rPr lang="en-US" sz="2000" b="1" dirty="0"/>
                  <a:t>2x2 Multipath Rayleigh Fading Channel</a:t>
                </a:r>
              </a:p>
              <a:p>
                <a:r>
                  <a:rPr lang="en-US" sz="2000" dirty="0"/>
                  <a:t>Additive White Gaussian Noise (AWGN) is introduced based on varying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2000" i="0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000" dirty="0"/>
                  <a:t> levels.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br>
                  <a:rPr lang="en-US" sz="2000" dirty="0"/>
                </a:b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0195824-E108-8EB3-958B-1D9AF10715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248285" y="619125"/>
                <a:ext cx="12015904" cy="4909185"/>
              </a:xfrm>
              <a:blipFill>
                <a:blip r:embed="rId2"/>
                <a:stretch>
                  <a:fillRect l="-1065" b="-33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013F7D-D74F-81FB-A8D0-0BE7AEEA8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33895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8D6BDD-2186-C40E-B6DA-1D90FF9ED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25BF9-7A8F-1BB5-9BD1-4BEAF7B05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V. EXPERIMENTAL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13364F-2CB4-8571-20CE-91279EF787A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48285" y="619125"/>
            <a:ext cx="11514529" cy="4909185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5.2 Processing Methodology</a:t>
            </a:r>
          </a:p>
          <a:p>
            <a:pPr marL="0" indent="0">
              <a:buNone/>
            </a:pPr>
            <a:r>
              <a:rPr lang="en-US" sz="2000" b="1" dirty="0"/>
              <a:t>Receiver Operations:</a:t>
            </a:r>
          </a:p>
          <a:p>
            <a:r>
              <a:rPr lang="en-US" sz="2000" b="1" dirty="0"/>
              <a:t>OFDM Demodulation:</a:t>
            </a:r>
            <a:r>
              <a:rPr lang="en-US" sz="2000" dirty="0"/>
              <a:t> CP is removed and FFT is applied to return to the frequency domain.</a:t>
            </a:r>
          </a:p>
          <a:p>
            <a:r>
              <a:rPr lang="en-US" sz="2000" b="1" dirty="0"/>
              <a:t>STBC Decoding:</a:t>
            </a:r>
            <a:r>
              <a:rPr lang="en-US" sz="2000" dirty="0"/>
              <a:t> Received signals are combined using </a:t>
            </a:r>
            <a:r>
              <a:rPr lang="en-US" sz="2000" b="1" dirty="0" err="1"/>
              <a:t>Alamouti</a:t>
            </a:r>
            <a:r>
              <a:rPr lang="en-US" sz="2000" b="1" dirty="0"/>
              <a:t> decoding</a:t>
            </a:r>
            <a:r>
              <a:rPr lang="en-US" sz="2000" dirty="0"/>
              <a:t>, assuming Perfect Channel State Information (CSI).</a:t>
            </a:r>
          </a:p>
          <a:p>
            <a:r>
              <a:rPr lang="en-US" sz="2000" b="1" dirty="0"/>
              <a:t>Demodulation:</a:t>
            </a:r>
            <a:r>
              <a:rPr lang="en-US" sz="2000" dirty="0"/>
              <a:t> Estimated symbols are </a:t>
            </a:r>
            <a:r>
              <a:rPr lang="en-US" sz="2000" dirty="0" err="1"/>
              <a:t>demapped</a:t>
            </a:r>
            <a:r>
              <a:rPr lang="en-US" sz="2000" dirty="0"/>
              <a:t> back into binary bits using 16-QAM decision boundaries.</a:t>
            </a:r>
          </a:p>
          <a:p>
            <a:pPr marL="0" indent="0">
              <a:buNone/>
            </a:pPr>
            <a:r>
              <a:rPr lang="en-US" sz="2000" b="1" dirty="0"/>
              <a:t> Performance Evaluation:</a:t>
            </a:r>
            <a:endParaRPr lang="en-US" sz="2000" dirty="0"/>
          </a:p>
          <a:p>
            <a:r>
              <a:rPr lang="en-US" sz="2000" dirty="0"/>
              <a:t>Compare recovered data with the original input.</a:t>
            </a:r>
          </a:p>
          <a:p>
            <a:r>
              <a:rPr lang="en-US" sz="2000" dirty="0"/>
              <a:t>Calculate and analyze </a:t>
            </a:r>
            <a:r>
              <a:rPr lang="en-US" sz="2000" b="1" dirty="0"/>
              <a:t>Bit Error Rate (BER)</a:t>
            </a:r>
            <a:r>
              <a:rPr lang="en-US" sz="2000" dirty="0"/>
              <a:t> and </a:t>
            </a:r>
            <a:r>
              <a:rPr lang="en-US" sz="2000" b="1" dirty="0"/>
              <a:t>Symbol Error Rate (SER)</a:t>
            </a:r>
            <a:r>
              <a:rPr lang="en-US" sz="2000" dirty="0"/>
              <a:t> to evaluate system reliability.</a:t>
            </a:r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47248D-EF0A-E711-83C1-FC362CBEE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50248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C06A26-4FC6-CBB8-1A19-55F0D6F19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5F0CE-5914-8F16-AFD6-82DC68763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V. EXPERIMENTAL SETUP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53CC4EE-D733-CB9D-BABF-8C921321DB55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248285" y="619125"/>
                <a:ext cx="11943715" cy="4909185"/>
              </a:xfrm>
            </p:spPr>
            <p:txBody>
              <a:bodyPr/>
              <a:lstStyle/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b="1" dirty="0"/>
                  <a:t> 5.3 Evaluation Scenario</a:t>
                </a:r>
                <a:endParaRPr lang="en-US" sz="2000" dirty="0"/>
              </a:p>
              <a:p>
                <a:r>
                  <a:rPr lang="en-US" sz="2000" dirty="0"/>
                  <a:t>Simulation is repeated for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kumimoji="0" lang="en-US" sz="20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kumimoji="0" lang="en-US" sz="20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sz="20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kumimoji="0" lang="en-US" sz="20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kumimoji="0" lang="en-US" sz="20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sz="20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kumimoji="0" lang="en-US" sz="2000" b="0" i="0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000" dirty="0"/>
                  <a:t> values from 0 dB to 30 </a:t>
                </a:r>
                <a:r>
                  <a:rPr lang="en-US" sz="2000" dirty="0" err="1"/>
                  <a:t>dB.</a:t>
                </a:r>
                <a:endParaRPr lang="en-US" sz="2000" dirty="0"/>
              </a:p>
              <a:p>
                <a:r>
                  <a:rPr lang="en-US" sz="2000" dirty="0"/>
                  <a:t>Each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kumimoji="0" lang="en-US" sz="20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kumimoji="0" lang="en-US" sz="20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sz="20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kumimoji="0" lang="en-US" sz="20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kumimoji="0" lang="en-US" sz="20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sz="20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kumimoji="0" lang="en-US" sz="2000" b="0" i="0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000" dirty="0"/>
                  <a:t> value is a large number of random bits are transmitted through the 2x2 MIMO-OFDM system.</a:t>
                </a:r>
              </a:p>
              <a:p>
                <a:r>
                  <a:rPr lang="en-US" sz="2000" dirty="0">
                    <a:effectLst/>
                  </a:rPr>
                  <a:t>The corresponding BER and SER values are collected and plotted on a logarithmic scale.</a:t>
                </a:r>
              </a:p>
              <a:p>
                <a:r>
                  <a:rPr lang="en-US" sz="2000" dirty="0"/>
                  <a:t>The expected result is that both BER and SER decrease as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kumimoji="0" lang="en-US" sz="20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kumimoji="0" lang="en-US" sz="20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sz="20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kumimoji="0" lang="en-US" sz="20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kumimoji="0" lang="en-US" sz="20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sz="20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kumimoji="0" lang="en-US" sz="2000" b="0" i="0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000" dirty="0"/>
                  <a:t> increases.</a:t>
                </a:r>
              </a:p>
              <a:p>
                <a:r>
                  <a:rPr lang="en-US" sz="2000" dirty="0">
                    <a:effectLst/>
                  </a:rPr>
                  <a:t>The use of </a:t>
                </a:r>
                <a:r>
                  <a:rPr lang="en-US" sz="2000" dirty="0" err="1">
                    <a:effectLst/>
                  </a:rPr>
                  <a:t>Alamouti</a:t>
                </a:r>
                <a:r>
                  <a:rPr lang="en-US" sz="2000" dirty="0">
                    <a:effectLst/>
                  </a:rPr>
                  <a:t> STBC is expected to improve system reliability by providing spatial diversity, while OFDM helps reduce the effect of multipath propagation by converting the frequency-selective channel into multiple narrowband subchannels.</a:t>
                </a: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53CC4EE-D733-CB9D-BABF-8C921321DB5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248285" y="619125"/>
                <a:ext cx="11943715" cy="4909185"/>
              </a:xfrm>
              <a:blipFill>
                <a:blip r:embed="rId2"/>
                <a:stretch>
                  <a:fillRect l="-459" r="-4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81C852-5978-DB72-3377-6B26E700B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6885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D551EF-79F3-2625-BE92-DAEFB49765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8186F-B751-BA25-5165-A2F570C50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VI.RESULTS AND DISCUSSION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058D7A-C9CD-2BC5-47E9-2E9C4F288B98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248285" y="619125"/>
                <a:ext cx="5623125" cy="4909185"/>
              </a:xfrm>
            </p:spPr>
            <p:txBody>
              <a:bodyPr/>
              <a:lstStyle/>
              <a:p>
                <a:pPr marL="0" indent="0">
                  <a:buNone/>
                </a:pPr>
                <a:endParaRPr lang="en-US" altLang="en-US" b="1" dirty="0"/>
              </a:p>
              <a:p>
                <a:pPr marL="514350" indent="-514350">
                  <a:buAutoNum type="arabicPeriod"/>
                </a:pPr>
                <a:r>
                  <a:rPr lang="en-US" altLang="en-US" b="1" dirty="0"/>
                  <a:t>Simulation results</a:t>
                </a:r>
              </a:p>
              <a:p>
                <a:r>
                  <a:rPr lang="en-US" sz="2000" dirty="0"/>
                  <a:t>The obtained simulation results illustrate the variations of BER and SER as functions of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2000" dirty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en-US" sz="2000" b="1" dirty="0"/>
                  <a:t> </a:t>
                </a:r>
                <a:r>
                  <a:rPr lang="en-US" altLang="en-US" sz="2000" dirty="0"/>
                  <a:t>(dB).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058D7A-C9CD-2BC5-47E9-2E9C4F288B9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248285" y="619125"/>
                <a:ext cx="5623125" cy="4909185"/>
              </a:xfrm>
              <a:blipFill>
                <a:blip r:embed="rId2"/>
                <a:stretch>
                  <a:fillRect l="-21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5E2A3A-76EE-149F-D832-A61642B2D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t>6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8D71896-FE11-B6E5-96DD-53D1A84C59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287827"/>
            <a:ext cx="5616427" cy="4008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5000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D1B42D-6565-D3C2-447E-C6E4276B2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DA334-D870-2493-9CF6-5005ED2DD7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VI.RESULTS AND 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F03CBA-66DC-DCA5-140F-6EEEC854282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48285" y="619125"/>
            <a:ext cx="5623125" cy="4909185"/>
          </a:xfrm>
        </p:spPr>
        <p:txBody>
          <a:bodyPr/>
          <a:lstStyle/>
          <a:p>
            <a:pPr marL="0" indent="0">
              <a:buNone/>
            </a:pPr>
            <a:endParaRPr lang="en-US" altLang="en-US" b="1" dirty="0"/>
          </a:p>
          <a:p>
            <a:pPr marL="0" indent="0">
              <a:buNone/>
            </a:pPr>
            <a:r>
              <a:rPr lang="en-US" altLang="en-US" b="1" dirty="0"/>
              <a:t>6.1 Simulation results</a:t>
            </a:r>
          </a:p>
          <a:p>
            <a:r>
              <a:rPr lang="en-US" sz="2000" dirty="0"/>
              <a:t>The corresponding performance curves are plotted in Figure 5.</a:t>
            </a:r>
            <a:endParaRPr lang="en-US" alt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0D6D8A-C5A1-7D98-EE95-DAECA4D08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t>7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BFCA8AD-10A2-60D3-0AED-E141B7FD9F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8788" y="1348870"/>
            <a:ext cx="6302286" cy="4343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09239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63B8AE-5C29-7484-D67B-0E00E9257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F7AE6-5EB0-1DF9-F575-4B1CECE4A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VI. RESULTS AND DISCUSSION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94B7D16-A962-967D-3D39-83E7A1054D27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176096" y="627146"/>
                <a:ext cx="9072178" cy="4909185"/>
              </a:xfrm>
            </p:spPr>
            <p:txBody>
              <a:bodyPr/>
              <a:lstStyle/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b="1" dirty="0"/>
                  <a:t>6.2 Discussion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6.2.1 General Performance Trend</a:t>
                </a:r>
              </a:p>
              <a:p>
                <a:r>
                  <a:rPr lang="en-US" sz="2000" dirty="0"/>
                  <a:t>The simulation results show that both BER and SER decrease as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2000" dirty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r>
                      <a:rPr lang="en-US" sz="20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increases.</a:t>
                </a:r>
              </a:p>
              <a:p>
                <a:r>
                  <a:rPr lang="en-US" sz="2000" dirty="0"/>
                  <a:t>At low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2000" dirty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000" dirty="0"/>
                  <a:t>, the received signal is strongly affected by Rayleigh fading and AWGN, resulting in relatively high error rates. </a:t>
                </a:r>
              </a:p>
              <a:p>
                <a:r>
                  <a:rPr lang="en-US" sz="2000" dirty="0"/>
                  <a:t>As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2000" dirty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r>
                      <a:rPr lang="en-US" sz="20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increases, the noise effect becomes weaker, so the detection accuracy improves and the BER/SER values decrease significantly.</a:t>
                </a:r>
              </a:p>
              <a:p>
                <a:pPr marL="0" indent="0">
                  <a:buNone/>
                </a:pPr>
                <a:br>
                  <a:rPr lang="en-US" sz="2000" dirty="0"/>
                </a:b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94B7D16-A962-967D-3D39-83E7A1054D2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176096" y="627146"/>
                <a:ext cx="9072178" cy="4909185"/>
              </a:xfrm>
              <a:blipFill>
                <a:blip r:embed="rId2"/>
                <a:stretch>
                  <a:fillRect l="-14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65AEFA-E76E-B19F-72DA-E311572B4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7846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5496E-FB2E-1752-479A-519432233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EA2F5-FDF4-3AF9-4066-DD6172CCB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VI. RESULTS AND 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928E40-6F6F-EF85-139A-AB713899873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48285" y="619125"/>
            <a:ext cx="8237989" cy="4909185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6.2 Discussion</a:t>
            </a:r>
          </a:p>
          <a:p>
            <a:pPr marL="0" indent="0">
              <a:buNone/>
            </a:pPr>
            <a:r>
              <a:rPr lang="en-US" sz="2000" b="1" dirty="0"/>
              <a:t>6.2.2 BER and SER Comparison</a:t>
            </a:r>
          </a:p>
          <a:p>
            <a:r>
              <a:rPr lang="en-US" sz="2000" dirty="0"/>
              <a:t>The SER values are higher than the BER values because each 16-QAM symbol </a:t>
            </a:r>
            <a:r>
              <a:rPr lang="en-US" sz="2000" dirty="0" err="1"/>
              <a:t>carriesm</a:t>
            </a:r>
            <a:r>
              <a:rPr lang="en-US" sz="2000" dirty="0"/>
              <a:t> 4 bits</a:t>
            </a:r>
          </a:p>
          <a:p>
            <a:r>
              <a:rPr lang="en-US" sz="2000" dirty="0"/>
              <a:t>A symbol error occurs when at least one bit in the symbol is detected incorrectly. </a:t>
            </a:r>
          </a:p>
          <a:p>
            <a:r>
              <a:rPr lang="en-US" sz="2000" dirty="0"/>
              <a:t>The use of Gray coding helps reduce the number of bit errors when the received symbol is mistaken for a neighboring constellation point</a:t>
            </a:r>
            <a:br>
              <a:rPr lang="en-US" sz="2000" dirty="0"/>
            </a:br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CC6C44-4BD7-9724-BF8C-DD38CF159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92742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668E35-5BF6-F8C9-D4E8-C3CD7B0B6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0D92C-AFEA-4347-8B2C-90FF0DF3D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VI. RESULTS AND DISCUSSION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603A010-7E9E-DCDF-CEB7-637F974F8743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248285" y="619125"/>
                <a:ext cx="8237989" cy="4909185"/>
              </a:xfrm>
            </p:spPr>
            <p:txBody>
              <a:bodyPr/>
              <a:lstStyle/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b="1" dirty="0"/>
                  <a:t>6.2 Discussion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6.2.3 Diversity Gain from </a:t>
                </a:r>
                <a:r>
                  <a:rPr lang="en-US" sz="2000" b="1" dirty="0" err="1"/>
                  <a:t>Alamouti</a:t>
                </a:r>
                <a:r>
                  <a:rPr lang="en-US" sz="2000" b="1" dirty="0"/>
                  <a:t> STBC</a:t>
                </a:r>
              </a:p>
              <a:p>
                <a:r>
                  <a:rPr lang="en-US" sz="2000" dirty="0"/>
                  <a:t>The use of </a:t>
                </a:r>
                <a:r>
                  <a:rPr lang="en-US" sz="2000" dirty="0" err="1"/>
                  <a:t>Alamouti</a:t>
                </a:r>
                <a:r>
                  <a:rPr lang="en-US" sz="2000" dirty="0"/>
                  <a:t> STBC in the 2x2 MIMO system provides spatial diversity </a:t>
                </a:r>
              </a:p>
              <a:p>
                <a:r>
                  <a:rPr lang="en-US" sz="2000" dirty="0"/>
                  <a:t>By transmitting coded symbols through two transmit antennas and combining the received 20 signals from two receive antennas, the system reduces the impact of deep fading </a:t>
                </a:r>
              </a:p>
              <a:p>
                <a:r>
                  <a:rPr lang="en-US" sz="2000" dirty="0"/>
                  <a:t>This explains the rapid decrease of BER and SER as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sz="20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0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sz="20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0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2000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r>
                      <a:rPr lang="en-US" sz="20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increases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603A010-7E9E-DCDF-CEB7-637F974F87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248285" y="619125"/>
                <a:ext cx="8237989" cy="4909185"/>
              </a:xfrm>
              <a:blipFill>
                <a:blip r:embed="rId2"/>
                <a:stretch>
                  <a:fillRect l="-15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ABF1B1-0D02-D1B2-6164-9EA6E033B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53140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B36E81-3191-D01F-410D-893B4CBEB7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2B1E6-D858-1728-CEF8-146F97B59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VI. RESULTS AND 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75B6D7-C201-6749-34D7-7CD64A36C0F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48285" y="619125"/>
            <a:ext cx="8237989" cy="4909185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6.2 Discussion</a:t>
            </a:r>
          </a:p>
          <a:p>
            <a:pPr marL="0" indent="0">
              <a:buNone/>
            </a:pPr>
            <a:r>
              <a:rPr lang="en-US" sz="2000" b="1" dirty="0"/>
              <a:t>6.2.4 Effect of OFDM in Multipath Channel</a:t>
            </a:r>
          </a:p>
          <a:p>
            <a:r>
              <a:rPr lang="en-US" sz="2000" dirty="0"/>
              <a:t>OFDM improves system performance in the multipath Rayleigh channel</a:t>
            </a:r>
          </a:p>
          <a:p>
            <a:r>
              <a:rPr lang="en-US" sz="2000" dirty="0"/>
              <a:t>The IFFT/FFT structure divides the frequency-selective channel into multiple narrowband subchannels, while the cyclic prefix helps reduce inter-symbol interference </a:t>
            </a:r>
          </a:p>
          <a:p>
            <a:r>
              <a:rPr lang="en-US" sz="2000" dirty="0"/>
              <a:t>In this simulation, the cyclic prefix length is sufficient for the 6-tap channel, so most ISI effects are mitigated.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CFD430-C93F-A195-EAC3-1C30C9D1C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18919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4F7254-CB20-6F19-A9E2-548A68B267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02796-6515-46D1-C32E-EB65A7400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VI. RESULTS AND DISCUSSION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8C964F0-0503-CE41-8E5D-DA54B0917F65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248285" y="619125"/>
                <a:ext cx="11943715" cy="4909185"/>
              </a:xfrm>
            </p:spPr>
            <p:txBody>
              <a:bodyPr/>
              <a:lstStyle/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b="1" dirty="0"/>
                  <a:t>6.2 Discussion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6.2.5 Simulation Resolution Limit in the High-</a:t>
                </a:r>
                <a:r>
                  <a:rPr lang="en-US" sz="2000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sz="20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0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sz="20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0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2000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r>
                      <a:rPr lang="en-US" sz="20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b="1" dirty="0"/>
                  <a:t>Region </a:t>
                </a:r>
              </a:p>
              <a:p>
                <a:r>
                  <a:rPr lang="en-US" sz="2000" dirty="0"/>
                  <a:t>In the high-</a:t>
                </a:r>
                <a:r>
                  <a:rPr lang="en-US" sz="2000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sz="20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0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sz="20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0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2000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r>
                      <a:rPr lang="en-US" sz="20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region (specifically from 18 dB to 22 dB), a flattening of the BER and SER curves can be observed at exactly </a:t>
                </a:r>
                <a14:m>
                  <m:oMath xmlns:m="http://schemas.openxmlformats.org/officeDocument/2006/math">
                    <m:r>
                      <a:rPr lang="en-US" sz="2000" dirty="0" smtClean="0">
                        <a:latin typeface="Cambria Math" panose="02040503050406030204" pitchFamily="18" charset="0"/>
                      </a:rPr>
                      <m:t>6.51</m:t>
                    </m:r>
                    <m:r>
                      <a:rPr lang="en-US" sz="2000" i="0" dirty="0" smtClean="0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0" dirty="0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000" i="0" dirty="0" smtClean="0">
                            <a:latin typeface="Cambria Math" panose="02040503050406030204" pitchFamily="18" charset="0"/>
                          </a:rPr>
                          <m:t>−7</m:t>
                        </m:r>
                      </m:sup>
                    </m:sSup>
                  </m:oMath>
                </a14:m>
                <a:r>
                  <a:rPr lang="en-US" sz="2000" dirty="0"/>
                  <a:t>and </a:t>
                </a:r>
                <a14:m>
                  <m:oMath xmlns:m="http://schemas.openxmlformats.org/officeDocument/2006/math">
                    <m:r>
                      <a:rPr lang="en-US" sz="2000" dirty="0" smtClean="0">
                        <a:latin typeface="Cambria Math" panose="02040503050406030204" pitchFamily="18" charset="0"/>
                      </a:rPr>
                      <m:t>2.60</m:t>
                    </m:r>
                    <m:r>
                      <a:rPr lang="en-US" sz="2000" i="0" dirty="0" smtClean="0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0" dirty="0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000" i="0" dirty="0" smtClean="0">
                            <a:latin typeface="Cambria Math" panose="02040503050406030204" pitchFamily="18" charset="0"/>
                          </a:rPr>
                          <m:t>−6</m:t>
                        </m:r>
                      </m:sup>
                    </m:sSup>
                  </m:oMath>
                </a14:m>
                <a:r>
                  <a:rPr lang="en-US" sz="2000" dirty="0"/>
                  <a:t> , respectively. </a:t>
                </a:r>
              </a:p>
              <a:p>
                <a:r>
                  <a:rPr lang="en-US" sz="2000" dirty="0"/>
                  <a:t>As the simulation assumes perfect channel state information (CSI) at the receiver, this is not a physical error floor. </a:t>
                </a:r>
              </a:p>
              <a:p>
                <a:r>
                  <a:rPr lang="en-US" sz="2000" dirty="0"/>
                  <a:t>Rather, it represents the </a:t>
                </a:r>
                <a:r>
                  <a:rPr lang="en-US" sz="2000" b="1" dirty="0"/>
                  <a:t>resolution limit of the Monte Carlo simulation </a:t>
                </a:r>
                <a:r>
                  <a:rPr lang="en-US" sz="2000" dirty="0"/>
                  <a:t>due to the finite number of transmitted bits.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8C964F0-0503-CE41-8E5D-DA54B0917F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248285" y="619125"/>
                <a:ext cx="11943715" cy="4909185"/>
              </a:xfrm>
              <a:blipFill>
                <a:blip r:embed="rId2"/>
                <a:stretch>
                  <a:fillRect l="-1072" r="-4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3900B6-1DCF-1D6A-42EC-7C484A8B8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65395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B745C2-369A-0B7C-7E8D-C020609EA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A1915-EBE6-9DA9-E70E-8C8E78927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VI. RESULTS AND DISCUSSION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D6D296-7BD1-54AF-037E-E4455956CA3E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248285" y="619125"/>
                <a:ext cx="11943715" cy="4909185"/>
              </a:xfrm>
            </p:spPr>
            <p:txBody>
              <a:bodyPr/>
              <a:lstStyle/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b="1" dirty="0"/>
                  <a:t>6.2 Discussion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6.2.5 Simulation Resolution Limit in the High-</a:t>
                </a:r>
                <a:r>
                  <a:rPr lang="en-US" sz="2000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sz="20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0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sz="20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0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2000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r>
                      <a:rPr lang="en-US" sz="20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b="1" dirty="0"/>
                  <a:t>Region </a:t>
                </a:r>
              </a:p>
              <a:p>
                <a:r>
                  <a:rPr lang="en-US" sz="2000" dirty="0"/>
                  <a:t>With the configured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000" b="0" i="1" smtClean="0"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 b="0" i="1" smtClean="0">
                            <a:latin typeface="Cambria Math" panose="02040503050406030204" pitchFamily="18" charset="0"/>
                          </a:rPr>
                          <m:t>Blocks</m:t>
                        </m:r>
                      </m:sub>
                    </m:sSub>
                  </m:oMath>
                </a14:m>
                <a:r>
                  <a:rPr lang="en-US" sz="2000" dirty="0"/>
                  <a:t>= 3000, the total number of transmitted bits per SNR point is 1,536, 000. </a:t>
                </a:r>
              </a:p>
              <a:p>
                <a:r>
                  <a:rPr lang="en-US" sz="2000" dirty="0"/>
                  <a:t>At these high SNR levels, exactly one bit error (and correspondingly one symbol error) occurs across the entire simulation, causing the calculated error rates to bottleneck at a constant minimum measurable value (1/1,536, 000 ≈ </a:t>
                </a:r>
                <a14:m>
                  <m:oMath xmlns:m="http://schemas.openxmlformats.org/officeDocument/2006/math">
                    <m:r>
                      <a:rPr lang="en-US" sz="2000" dirty="0">
                        <a:latin typeface="Cambria Math" panose="02040503050406030204" pitchFamily="18" charset="0"/>
                      </a:rPr>
                      <m:t>6.51×</m:t>
                    </m:r>
                    <m:sSup>
                      <m:sSup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dirty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000" dirty="0">
                            <a:latin typeface="Cambria Math" panose="02040503050406030204" pitchFamily="18" charset="0"/>
                          </a:rPr>
                          <m:t>−7</m:t>
                        </m:r>
                      </m:sup>
                    </m:sSup>
                  </m:oMath>
                </a14:m>
                <a:r>
                  <a:rPr lang="en-US" sz="2000" dirty="0"/>
                  <a:t>). </a:t>
                </a:r>
              </a:p>
              <a:p>
                <a:r>
                  <a:rPr lang="en-US" sz="2000" dirty="0"/>
                  <a:t>Once </a:t>
                </a: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kumimoji="0" lang="en-US" sz="20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kumimoji="0" lang="en-US" sz="20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sz="20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kumimoji="0" lang="en-US" sz="20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kumimoji="0" lang="en-US" sz="20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sz="20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kumimoji="0" lang="en-US" sz="2000" b="0" i="0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r>
                      <a:rPr kumimoji="0" lang="en-US" sz="20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reaches 24 dB, the system becomes entirely error-free (0 errors), causing the BER and SER to drop to strictly zero. </a:t>
                </a:r>
              </a:p>
              <a:p>
                <a:r>
                  <a:rPr lang="en-US" sz="2000" dirty="0"/>
                  <a:t>To accurately capture and observe a smoother waterfall curve for error probabilities below this threshold, the number of simulation blocks must be significantly increased (</a:t>
                </a:r>
                <a:r>
                  <a:rPr lang="en-US" sz="2000" dirty="0" err="1"/>
                  <a:t>e.g</a:t>
                </a:r>
                <a:r>
                  <a:rPr lang="en-US" sz="20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sub>
                        <m:eqArr>
                          <m:eqArr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m:rPr>
                                <m:sty m:val="p"/>
                              </m:r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Blocks</m:t>
                            </m:r>
                          </m:e>
                          <m:e/>
                        </m:eqArr>
                      </m:sub>
                    </m:sSub>
                  </m:oMath>
                </a14:m>
                <a:r>
                  <a:rPr lang="en-US" sz="2000" dirty="0"/>
                  <a:t>≥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lang="en-US" sz="2000" dirty="0"/>
                  <a:t> ).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D6D296-7BD1-54AF-037E-E4455956CA3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248285" y="619125"/>
                <a:ext cx="11943715" cy="4909185"/>
              </a:xfrm>
              <a:blipFill>
                <a:blip r:embed="rId2"/>
                <a:stretch>
                  <a:fillRect l="-1072" r="-10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B3AA88-D6BF-F9B3-2B86-EDAB58AF7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33525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144439-7C8E-13EB-C0F7-96A44D9A9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090EC-1530-EAE6-7506-936CC893D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VI. RESULTS AND 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9D2488-EF1C-406A-126F-343FBA4D636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48285" y="619125"/>
            <a:ext cx="8013399" cy="4909185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6.2 Discussion</a:t>
            </a:r>
          </a:p>
          <a:p>
            <a:pPr marL="0" indent="0">
              <a:buNone/>
            </a:pPr>
            <a:r>
              <a:rPr lang="en-US" sz="2000" b="1" dirty="0"/>
              <a:t>6.2.6 Overall Evaluation</a:t>
            </a:r>
          </a:p>
          <a:p>
            <a:r>
              <a:rPr lang="en-US" sz="2000" dirty="0"/>
              <a:t>Overall, the results confirm that the 2x2 MIMO-OFDM system using </a:t>
            </a:r>
            <a:r>
              <a:rPr lang="en-US" sz="2000" dirty="0" err="1"/>
              <a:t>Alamouti</a:t>
            </a:r>
            <a:r>
              <a:rPr lang="en-US" sz="2000" dirty="0"/>
              <a:t> STBC and 16-QAM achieves good performance over a multipath Rayleigh fading channel. </a:t>
            </a:r>
          </a:p>
          <a:p>
            <a:r>
              <a:rPr lang="en-US" sz="2000" dirty="0"/>
              <a:t>The performance improvement mainly comes from the diversity gain of STBC and the ability of OFDM to handle multipath propagation.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F9DF72-1C70-8C46-784E-EDFB6A4A8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20839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</TotalTime>
  <Words>991</Words>
  <Application>Microsoft Office PowerPoint</Application>
  <PresentationFormat>Widescreen</PresentationFormat>
  <Paragraphs>111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Cambria Math</vt:lpstr>
      <vt:lpstr>Lato</vt:lpstr>
      <vt:lpstr>Office Theme</vt:lpstr>
      <vt:lpstr>1_Office Theme</vt:lpstr>
      <vt:lpstr>V. EXPERIMENTAL SETUP</vt:lpstr>
      <vt:lpstr>V. EXPERIMENTAL SETUP</vt:lpstr>
      <vt:lpstr>V. EXPERIMENTAL SETUP</vt:lpstr>
      <vt:lpstr>V. EXPERIMENTAL SETUP</vt:lpstr>
      <vt:lpstr>V. EXPERIMENTAL SETUP</vt:lpstr>
      <vt:lpstr>VI.RESULTS AND DISCUSSION</vt:lpstr>
      <vt:lpstr>VI.RESULTS AND DISCUSSION</vt:lpstr>
      <vt:lpstr>VI. RESULTS AND DISCUSSION</vt:lpstr>
      <vt:lpstr>VI. RESULTS AND DISCUSSION</vt:lpstr>
      <vt:lpstr>VI. RESULTS AND DISCUSSION</vt:lpstr>
      <vt:lpstr>VI. RESULTS AND DISCUSSION</vt:lpstr>
      <vt:lpstr>VI. RESULTS AND DISCUSSION</vt:lpstr>
      <vt:lpstr>VI. RESULTS AND DISCUSSION</vt:lpstr>
      <vt:lpstr>VI. RESULTS AND DISCUSSION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Phong TT &amp; QTTH</dc:creator>
  <cp:lastModifiedBy>Vu Viet Trung 20238816</cp:lastModifiedBy>
  <cp:revision>16</cp:revision>
  <dcterms:created xsi:type="dcterms:W3CDTF">2021-05-28T04:32:00Z</dcterms:created>
  <dcterms:modified xsi:type="dcterms:W3CDTF">2026-06-15T14:50:50Z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C9AFBC38571F4F7DA5181EC269779F22_13</vt:lpwstr>
  </property>
</Properties>
</file>