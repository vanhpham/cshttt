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56" r:id="rId3"/>
    <p:sldId id="257" r:id="rId4"/>
    <p:sldId id="260" r:id="rId5"/>
    <p:sldId id="261" r:id="rId6"/>
    <p:sldId id="269" r:id="rId7"/>
    <p:sldId id="271" r:id="rId8"/>
    <p:sldId id="258" r:id="rId9"/>
    <p:sldId id="272" r:id="rId10"/>
    <p:sldId id="270" r:id="rId11"/>
    <p:sldId id="274" r:id="rId12"/>
    <p:sldId id="275" r:id="rId13"/>
    <p:sldId id="273" r:id="rId14"/>
    <p:sldId id="265" r:id="rId15"/>
    <p:sldId id="276" r:id="rId16"/>
    <p:sldId id="279" r:id="rId17"/>
    <p:sldId id="278" r:id="rId18"/>
    <p:sldId id="277" r:id="rId19"/>
    <p:sldId id="267" r:id="rId20"/>
    <p:sldId id="26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53" d="100"/>
          <a:sy n="53" d="100"/>
        </p:scale>
        <p:origin x="5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6/15/2026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6/15/2026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6/15/2026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r>
              <a:rPr lang="en-US" dirty="0"/>
              <a:t>Code &amp; Performance Results</a:t>
            </a:r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FLOW / CODE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68388EC-E0CF-0D93-A855-169424FCF2E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47892" y="881364"/>
            <a:ext cx="10096216" cy="527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PARAMETERS</a:t>
            </a:r>
          </a:p>
        </p:txBody>
      </p:sp>
      <p:pic>
        <p:nvPicPr>
          <p:cNvPr id="6" name="Chart Placeholder 5">
            <a:extLst>
              <a:ext uri="{FF2B5EF4-FFF2-40B4-BE49-F238E27FC236}">
                <a16:creationId xmlns:a16="http://schemas.microsoft.com/office/drawing/2014/main" id="{FD88A489-64DA-D3EB-1700-BB520E4ABE7F}"/>
              </a:ext>
            </a:extLst>
          </p:cNvPr>
          <p:cNvPicPr>
            <a:picLocks noGrp="1" noChangeAspect="1"/>
          </p:cNvPicPr>
          <p:nvPr>
            <p:ph type="chart" sz="quarter" idx="13"/>
          </p:nvPr>
        </p:nvPicPr>
        <p:blipFill>
          <a:blip r:embed="rId2"/>
          <a:stretch>
            <a:fillRect/>
          </a:stretch>
        </p:blipFill>
        <p:spPr>
          <a:xfrm>
            <a:off x="338736" y="1603311"/>
            <a:ext cx="5765800" cy="41094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1A217-4468-431E-0207-69DD9EC31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04" y="1362400"/>
            <a:ext cx="5924854" cy="459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CCF6-4A26-E24E-D996-ED102F66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2EDA60-7096-77C8-9DDA-1630C17F93F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LOOP AND NOISE SETUP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2EDA60-7096-77C8-9DDA-1630C17F9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12" t="-23611" b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5B5A6E-AF10-80EA-5D2D-7C4A723CB72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8736" y="4214981"/>
                <a:ext cx="11515725" cy="21656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-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from dB to linear: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𝑑𝐵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-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/>
                  <a:t>, 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5B5A6E-AF10-80EA-5D2D-7C4A723CB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8736" y="4214981"/>
                <a:ext cx="11515725" cy="2165684"/>
              </a:xfrm>
              <a:blipFill>
                <a:blip r:embed="rId3"/>
                <a:stretch>
                  <a:fillRect l="-847" t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C064-8341-3436-949F-FF9DF066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64ADB-954F-3EBC-A265-FD8B8B37A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352" y="914712"/>
            <a:ext cx="7335704" cy="31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8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4479-325F-4FC7-C9F8-29F13292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4776-A6A8-C540-CADF-B9F208EB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LOOP AND RANDOM BIT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BEEC0C-837B-13C1-4E55-339F3C2ABA1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4319336"/>
                <a:ext cx="11562172" cy="17325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- A block contains: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/>
                            <m:t>sym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/>
                            <m:t>fft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=128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/>
                            <m:t>bits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=128×4=512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r>
                  <a:rPr lang="en-US" sz="2400" dirty="0"/>
                  <a:t>- Cause a symbol 16-QAM contains 4 bit.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BEEC0C-837B-13C1-4E55-339F3C2AB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4319336"/>
                <a:ext cx="11562172" cy="1732548"/>
              </a:xfrm>
              <a:blipFill>
                <a:blip r:embed="rId2"/>
                <a:stretch>
                  <a:fillRect l="-791" t="-4930" b="-2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5024-188C-BB72-6626-481A9DFB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2B94E-ADAA-04A1-E4C4-0B59EC602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213" y="1479788"/>
            <a:ext cx="9211573" cy="211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9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 – QAM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8" y="4511842"/>
                <a:ext cx="11514529" cy="160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- 16-QAM: 4 bit → 1 symbol.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𝑗𝑄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- Standardization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8" y="4511842"/>
                <a:ext cx="11514529" cy="1600200"/>
              </a:xfrm>
              <a:blipFill>
                <a:blip r:embed="rId2"/>
                <a:stretch>
                  <a:fillRect l="-794" t="-5323" b="-7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4E7F1-40D5-0E0B-96CF-819625257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38" y="1932345"/>
            <a:ext cx="4948743" cy="1195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03992-1865-09F6-DE2D-490DFEE60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281" y="1100498"/>
            <a:ext cx="6377809" cy="285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305DC-6EA3-0676-B3BA-BCFAD02F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7908-B5D0-053A-0AAD-95FB655C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MAPPING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2FE26-49C6-01CC-863F-19CD0608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451" y="1112895"/>
            <a:ext cx="9507097" cy="50472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96D13-D1FA-6B32-50D5-3CEB41AA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2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9BFF-59A4-6629-379B-4D5B0D3E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F5AA-3E55-3F76-F322-EC535993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ALAMOUTI STBC ENCODING</a:t>
            </a:r>
          </a:p>
        </p:txBody>
      </p:sp>
      <p:pic>
        <p:nvPicPr>
          <p:cNvPr id="6" name="Chart Placeholder 5">
            <a:extLst>
              <a:ext uri="{FF2B5EF4-FFF2-40B4-BE49-F238E27FC236}">
                <a16:creationId xmlns:a16="http://schemas.microsoft.com/office/drawing/2014/main" id="{59983AC7-1E4A-9925-0E45-A6805DC8AA62}"/>
              </a:ext>
            </a:extLst>
          </p:cNvPr>
          <p:cNvPicPr>
            <a:picLocks noGrp="1" noChangeAspect="1"/>
          </p:cNvPicPr>
          <p:nvPr>
            <p:ph type="chart" sz="quarter" idx="13"/>
          </p:nvPr>
        </p:nvPicPr>
        <p:blipFill>
          <a:blip r:embed="rId2"/>
          <a:stretch>
            <a:fillRect/>
          </a:stretch>
        </p:blipFill>
        <p:spPr>
          <a:xfrm>
            <a:off x="1634511" y="1584996"/>
            <a:ext cx="8728315" cy="24684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52367E2B-CB12-E5C0-D727-289DADA112A4}"/>
                  </a:ext>
                </a:extLst>
              </p:cNvPr>
              <p:cNvSpPr>
                <a:spLocks noGrp="1"/>
              </p:cNvSpPr>
              <p:nvPr>
                <p:ph type="pic" sz="quarter" idx="14"/>
              </p:nvPr>
            </p:nvSpPr>
            <p:spPr>
              <a:xfrm>
                <a:off x="338737" y="4668253"/>
                <a:ext cx="11319864" cy="14023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dirty="0" err="1"/>
                  <a:t>Alamouti</a:t>
                </a:r>
                <a:r>
                  <a:rPr lang="en-US" dirty="0"/>
                  <a:t>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52367E2B-CB12-E5C0-D727-289DADA112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4"/>
              </p:nvPr>
            </p:nvSpPr>
            <p:spPr>
              <a:xfrm>
                <a:off x="338737" y="4668253"/>
                <a:ext cx="11319864" cy="1402347"/>
              </a:xfrm>
              <a:blipFill>
                <a:blip r:embed="rId3"/>
                <a:stretch>
                  <a:fillRect l="-1131" t="-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FDE29-878B-0DE6-3F56-200E7828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9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BDB37-8BE2-8714-10E2-41917DB4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CFB2-D8CE-C9AA-8914-64D09F88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OFDM MODULATION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D95E8-6019-0694-71FC-E6167404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749" y="1481666"/>
            <a:ext cx="9364501" cy="21157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F7A5C-F64C-4194-83AC-30379BC6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4EAA3-A1D1-42BB-1CF3-E6741FF7F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412" y="3743045"/>
            <a:ext cx="8255175" cy="19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2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D6CEC-CB6B-6599-65A1-0578DC18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9F8A-0CDD-4738-9318-B217D0A0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RAYLEIGH CHANNEL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5ACDB-630F-D709-2C3E-1278B2FE1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011" y="4470369"/>
            <a:ext cx="11669977" cy="113580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A 2x2 MIMO system has four channel links: h11​,h12​,h21​,h22​</a:t>
            </a:r>
          </a:p>
          <a:p>
            <a:pPr marL="0" indent="0">
              <a:buNone/>
            </a:pPr>
            <a:r>
              <a:rPr lang="en-US" sz="2400" dirty="0"/>
              <a:t>- Each link has 6 taps. The Rayleigh channel is generated from complex Gaussian random variables.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727F6-FF08-1E92-2325-A5FBF74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4572D-23C9-4F7A-F968-C6891296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94" y="1436324"/>
            <a:ext cx="9870811" cy="24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5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D7DC-9E51-45D2-7BAE-7E32964A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423D-19D8-9D8F-0CF6-A2E8091E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TRANSMITTION AND AWGN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0BD07-1E3B-B540-7FB8-E5FB94DC8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914" y="2622883"/>
            <a:ext cx="5159454" cy="158816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y=h1​∗x1​+h2​∗x2​+n</a:t>
            </a:r>
          </a:p>
          <a:p>
            <a:pPr marL="0" indent="0">
              <a:buNone/>
            </a:pPr>
            <a:r>
              <a:rPr lang="en-US" sz="2400" dirty="0"/>
              <a:t>- conv() represents signal transmission through a multipath channel. AWGN is added after fading.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FA71-168A-7E54-BFBA-98647675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1BDAD-8971-FA32-E26D-E536F274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065" y="1133737"/>
            <a:ext cx="6598199" cy="48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90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OFDM RECEIVER: CP REMOVAL AND FFT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736" y="4692316"/>
            <a:ext cx="11562172" cy="124281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The receiver removes the cyclic prefix and then applies FFT to convert the time-domain signal back to the frequency domain. </a:t>
            </a:r>
          </a:p>
          <a:p>
            <a:pPr marL="0" indent="0">
              <a:buNone/>
            </a:pPr>
            <a:r>
              <a:rPr lang="en-US" sz="2400" dirty="0"/>
              <a:t>- After FFT, each subcarrier can be processed separately.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113A2-941C-2F94-6403-41EA32EA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478" y="1106388"/>
            <a:ext cx="7675043" cy="2057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59A531-E87C-CEA7-2D14-A497F89D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028" y="3329616"/>
            <a:ext cx="7909943" cy="10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7109-AA80-8313-E756-F7155098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76E-706E-7AB4-5E54-FCE7A797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FREQUENCY RESPONSE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7734F-77BE-C936-B49C-67D3A93AD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135" y="4728494"/>
            <a:ext cx="11515725" cy="135109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The time-domain channel (h(n)) is converted to the frequency-domain channel response: H(k)=FFT(h(n))</a:t>
            </a:r>
            <a:br>
              <a:rPr lang="en-US" sz="2400" dirty="0"/>
            </a:br>
            <a:r>
              <a:rPr lang="en-US" sz="2400" dirty="0"/>
              <a:t>- This is needed for </a:t>
            </a:r>
            <a:r>
              <a:rPr lang="en-US" sz="2400" dirty="0" err="1"/>
              <a:t>Alamouti</a:t>
            </a:r>
            <a:r>
              <a:rPr lang="en-US" sz="2400" dirty="0"/>
              <a:t> decoding on each OFDM subcarrier.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A65D0-50A0-DDC4-5C5B-FBC31F8E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B5342-1973-D3F6-02F6-6D7A2595E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914" y="1323923"/>
            <a:ext cx="9102172" cy="30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29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2EA0-0F9C-A664-ABE0-727BED7D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B4A5-574E-52BF-0DA4-145A24F5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ALAMOUTI STBC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0ADDC1-D61E-B9F9-91AE-F202630D11B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8736" y="2328110"/>
                <a:ext cx="3957735" cy="220177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- </a:t>
                </a:r>
                <a:r>
                  <a:rPr lang="en-US" sz="2400" dirty="0" err="1"/>
                  <a:t>Alamouti</a:t>
                </a:r>
                <a:r>
                  <a:rPr lang="en-US" sz="2400" dirty="0"/>
                  <a:t> decoding: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+∣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+∣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0ADDC1-D61E-B9F9-91AE-F202630D1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8736" y="2328110"/>
                <a:ext cx="3957735" cy="2201779"/>
              </a:xfrm>
              <a:blipFill>
                <a:blip r:embed="rId2"/>
                <a:stretch>
                  <a:fillRect l="-2465" t="-3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C8C8B-42A0-D908-BD85-8F6CE5CB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C7726-59FC-90DC-9665-6D2D02EE3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086" y="949808"/>
            <a:ext cx="6776890" cy="53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6F17-4535-54F8-B2BC-F114AF81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BE8B-E0DF-B814-CDB0-F77347B4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 – QAM DEMAPPING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75027-4E46-3CD9-2E82-6837B7A77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5390" y="5243370"/>
            <a:ext cx="11381219" cy="72545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- 16-QAM </a:t>
            </a:r>
            <a:r>
              <a:rPr lang="en-US" sz="2400" dirty="0" err="1"/>
              <a:t>demapping</a:t>
            </a:r>
            <a:r>
              <a:rPr lang="en-US" sz="2400" dirty="0"/>
              <a:t> uses decision thresholds (-2, 0, 2). This is equivalent to choosing the nearest constellation point based on Euclidean distance.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9C970-C7F4-8253-62DF-6198510A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E257D-190E-7359-7DB5-94F36F29A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1" y="955894"/>
            <a:ext cx="5663409" cy="638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6663B-68E4-1E91-AF06-06018C853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79" y="1825621"/>
            <a:ext cx="4698120" cy="886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58CE04-B371-D571-DF60-72D0A4CAD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131" y="2867280"/>
            <a:ext cx="4423868" cy="1852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76AEA7-EC8B-D794-2996-9C6700229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263791"/>
            <a:ext cx="5622951" cy="33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37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9E20-B4A4-5950-CBB6-F454EEB6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AF86-9F7C-3057-1C1D-0AE99266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 AND SER CALCULATION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425CC-4AAE-208D-9F25-8EC215CD5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40" y="5058097"/>
            <a:ext cx="11514529" cy="954055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400" b="0" dirty="0"/>
              <a:t>BER = BIT ERRORS / TOTAL BITS</a:t>
            </a:r>
          </a:p>
          <a:p>
            <a:pPr>
              <a:buFontTx/>
              <a:buChar char="-"/>
            </a:pPr>
            <a:r>
              <a:rPr lang="en-US" sz="2400" dirty="0"/>
              <a:t>SER = SYMBOL ERRORS / TOTAL SYMBOLS</a:t>
            </a:r>
            <a:endParaRPr lang="en-US" sz="2400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B51EA-5B2C-19D5-3383-75CBE8A5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F4EBE-C738-C9C5-623F-774FC3BE1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4" y="1029364"/>
            <a:ext cx="8597320" cy="382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1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AND PLOTTING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735" y="5046066"/>
            <a:ext cx="11514529" cy="97811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err="1"/>
              <a:t>Semilogy</a:t>
            </a:r>
            <a:r>
              <a:rPr lang="en-US" sz="2400" dirty="0"/>
              <a:t> is used because BER and SER are usually displayed on a logarithmic scale. </a:t>
            </a:r>
          </a:p>
          <a:p>
            <a:pPr marL="0" indent="0">
              <a:buNone/>
            </a:pPr>
            <a:r>
              <a:rPr lang="en-US" sz="2400" dirty="0"/>
              <a:t>- The BER/SER curves decrease as (Eb/N0) increases.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1CB6FB-3C6D-4952-9C6E-CB153CEA9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86" y="1017332"/>
            <a:ext cx="6273627" cy="389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408</Words>
  <Application>Microsoft Office PowerPoint</Application>
  <PresentationFormat>Widescreen</PresentationFormat>
  <Paragraphs>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Lato</vt:lpstr>
      <vt:lpstr>Times New Roman</vt:lpstr>
      <vt:lpstr>Office Theme</vt:lpstr>
      <vt:lpstr>PowerPoint Presentation</vt:lpstr>
      <vt:lpstr>Code &amp; Performance Results</vt:lpstr>
      <vt:lpstr>PowerPoint Presentation</vt:lpstr>
      <vt:lpstr>SIMULATION FLOW / CODE STRUCTURE</vt:lpstr>
      <vt:lpstr>SIMULATION PARAMETERS</vt:lpstr>
      <vt:lpstr>MAIN E_b/N_0 LOOP AND NOISE SETUP</vt:lpstr>
      <vt:lpstr>BLOCK LOOP AND RANDOM BIT GENERATION</vt:lpstr>
      <vt:lpstr>16 – QAM MAPPING</vt:lpstr>
      <vt:lpstr>GRAY MAPPING FUNCTION</vt:lpstr>
      <vt:lpstr>ALAMOUTI STBC ENCODING</vt:lpstr>
      <vt:lpstr>OFDM MODULATION FUNCTION</vt:lpstr>
      <vt:lpstr>2X2 RAYLEIGH CHANNEL GENERATION</vt:lpstr>
      <vt:lpstr>CHANNEL TRANSMITTION AND AWGN</vt:lpstr>
      <vt:lpstr>OFDM RECEIVER: CP REMOVAL AND FFT</vt:lpstr>
      <vt:lpstr>CHANNEL FREQUENCY RESPONSE</vt:lpstr>
      <vt:lpstr>ALAMOUTI STBC DECODING</vt:lpstr>
      <vt:lpstr>16 – QAM DEMAPPING</vt:lpstr>
      <vt:lpstr>BER AND SER CALCULATION</vt:lpstr>
      <vt:lpstr>PRINTING AND PLOTTING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La Quy Anh 20238739</cp:lastModifiedBy>
  <cp:revision>16</cp:revision>
  <dcterms:created xsi:type="dcterms:W3CDTF">2021-05-28T04:32:29Z</dcterms:created>
  <dcterms:modified xsi:type="dcterms:W3CDTF">2026-06-15T12:29:50Z</dcterms:modified>
</cp:coreProperties>
</file>